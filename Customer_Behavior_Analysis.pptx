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DM Sans" pitchFamily="2" charset="0"/>
      <p:regular r:id="rId13"/>
    </p:embeddedFont>
    <p:embeddedFont>
      <p:font typeface="DM Sans Semi Bold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60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85178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sv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Customer Shopping Behavior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Uncovering insights from 3,900 purchases to guide strategic business decisions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3945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Dataset Overview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615208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3,900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1455420" y="36470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Purchase Records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4137422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Transactional data analyzed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235893" y="2615208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18</a:t>
            </a:r>
            <a:endParaRPr lang="en-US" sz="5850" dirty="0"/>
          </a:p>
        </p:txBody>
      </p:sp>
      <p:sp>
        <p:nvSpPr>
          <p:cNvPr id="7" name="Text 5"/>
          <p:cNvSpPr/>
          <p:nvPr/>
        </p:nvSpPr>
        <p:spPr>
          <a:xfrm>
            <a:off x="5897523" y="36470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Data Columns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235893" y="4137422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Features tracked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9677995" y="2615208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37</a:t>
            </a:r>
            <a:endParaRPr lang="en-US" sz="5850" dirty="0"/>
          </a:p>
        </p:txBody>
      </p:sp>
      <p:sp>
        <p:nvSpPr>
          <p:cNvPr id="10" name="Text 8"/>
          <p:cNvSpPr/>
          <p:nvPr/>
        </p:nvSpPr>
        <p:spPr>
          <a:xfrm>
            <a:off x="10339626" y="36470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Missing Values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677995" y="4137422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 review ratings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93790" y="498228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Customer Data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93790" y="5563433"/>
            <a:ext cx="3978116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Age, Gender, Location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Subscription Status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Previous Purchases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5332928" y="498228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Purchase Details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332928" y="5563433"/>
            <a:ext cx="3978116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Item, Category, Amount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Season, Size, Color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Shipping Type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9872067" y="498228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Behavior Metrics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872067" y="5563433"/>
            <a:ext cx="3978116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Discount Applied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Promo Code Used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Review Rating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86044"/>
            <a:ext cx="671191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Python Data Preparation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A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01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203496"/>
            <a:ext cx="4196358" cy="30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Data Loading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3868222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Imported dataset using pandas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216962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A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02</a:t>
            </a:r>
            <a:endParaRPr lang="en-US" sz="17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962" y="3203496"/>
            <a:ext cx="4196358" cy="30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16962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Initial Exploration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216962" y="3868222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Checked structure with df.info() and summary statistics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9640133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A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03</a:t>
            </a:r>
            <a:endParaRPr lang="en-US" sz="17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0133" y="3203496"/>
            <a:ext cx="4196358" cy="30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40133" y="3377803"/>
            <a:ext cx="300978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Missing Data Handling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9640133" y="3868222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Imputed missing review ratings using median by category</a:t>
            </a:r>
            <a:endParaRPr lang="en-US" sz="1750" dirty="0"/>
          </a:p>
        </p:txBody>
      </p:sp>
      <p:sp>
        <p:nvSpPr>
          <p:cNvPr id="15" name="Text 10"/>
          <p:cNvSpPr/>
          <p:nvPr/>
        </p:nvSpPr>
        <p:spPr>
          <a:xfrm>
            <a:off x="793790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A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04</a:t>
            </a:r>
            <a:endParaRPr lang="en-US" sz="17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5323165"/>
            <a:ext cx="6407944" cy="304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93790" y="55202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Feature Engineering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793790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Created age groups and purchase frequency calculations</a:t>
            </a:r>
            <a:endParaRPr lang="en-US" sz="1750" dirty="0"/>
          </a:p>
        </p:txBody>
      </p:sp>
      <p:sp>
        <p:nvSpPr>
          <p:cNvPr id="19" name="Text 13"/>
          <p:cNvSpPr/>
          <p:nvPr/>
        </p:nvSpPr>
        <p:spPr>
          <a:xfrm>
            <a:off x="7428548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A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05</a:t>
            </a:r>
            <a:endParaRPr lang="en-US" sz="175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8548" y="5323165"/>
            <a:ext cx="6407944" cy="3048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428548" y="5520214"/>
            <a:ext cx="287285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Database Integration</a:t>
            </a:r>
            <a:endParaRPr lang="en-US" sz="2200" dirty="0"/>
          </a:p>
        </p:txBody>
      </p:sp>
      <p:sp>
        <p:nvSpPr>
          <p:cNvPr id="22" name="Text 15"/>
          <p:cNvSpPr/>
          <p:nvPr/>
        </p:nvSpPr>
        <p:spPr>
          <a:xfrm>
            <a:off x="7428548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Loaded cleaned data into PostgreSQL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4138" y="661273"/>
            <a:ext cx="7639764" cy="646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50" dirty="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SQL Analysis: Revenue Insights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2688074" y="3030022"/>
            <a:ext cx="2544842" cy="517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50"/>
              </a:lnSpc>
              <a:buNone/>
            </a:pPr>
            <a:r>
              <a:rPr lang="en-US" sz="405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73%</a:t>
            </a:r>
            <a:endParaRPr lang="en-US" sz="40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8873" y="1736884"/>
            <a:ext cx="3103483" cy="310348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667476" y="5080754"/>
            <a:ext cx="2586276" cy="323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0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Non-Subscribers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24138" y="5517237"/>
            <a:ext cx="6473071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$170,436 revenue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397127" y="3030022"/>
            <a:ext cx="2544842" cy="517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50"/>
              </a:lnSpc>
              <a:buNone/>
            </a:pPr>
            <a:r>
              <a:rPr lang="en-US" sz="405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27%</a:t>
            </a:r>
            <a:endParaRPr lang="en-US" sz="40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7925" y="1736884"/>
            <a:ext cx="3103483" cy="310348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376529" y="5080754"/>
            <a:ext cx="2586276" cy="323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0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Subscribers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7433072" y="5517237"/>
            <a:ext cx="6473190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$62,645 revenue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24138" y="6116717"/>
            <a:ext cx="2678430" cy="323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Gender Revenue Split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724138" y="6722983"/>
            <a:ext cx="13182124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b="1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Male:</a:t>
            </a:r>
            <a:r>
              <a:rPr lang="en-US" sz="16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$157,890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24138" y="7251740"/>
            <a:ext cx="13182124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b="1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Female:</a:t>
            </a:r>
            <a:r>
              <a:rPr lang="en-US" sz="16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$75,191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748427"/>
            <a:ext cx="584049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Product Performance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1797368"/>
            <a:ext cx="3664744" cy="2728436"/>
          </a:xfrm>
          <a:prstGeom prst="roundRect">
            <a:avLst>
              <a:gd name="adj" fmla="val 7482"/>
            </a:avLst>
          </a:prstGeom>
          <a:solidFill>
            <a:srgbClr val="FFCCD1"/>
          </a:solidFill>
          <a:ln w="7620">
            <a:solidFill>
              <a:srgbClr val="E5B2B7"/>
            </a:solidFill>
            <a:prstDash val="solid"/>
          </a:ln>
          <a:effectLst>
            <a:outerShdw dist="29210" dir="2700000" algn="bl" rotWithShape="0">
              <a:srgbClr val="E5B2B7">
                <a:alpha val="100000"/>
              </a:srgbClr>
            </a:outerShdw>
          </a:effectLst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224" y="2031802"/>
            <a:ext cx="680442" cy="68044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15390" y="2218849"/>
            <a:ext cx="306110" cy="30611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028224" y="29390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Top Rated</a:t>
            </a:r>
            <a:endParaRPr lang="en-US" sz="2200" dirty="0"/>
          </a:p>
        </p:txBody>
      </p:sp>
      <p:sp>
        <p:nvSpPr>
          <p:cNvPr id="8" name="Text 3"/>
          <p:cNvSpPr/>
          <p:nvPr/>
        </p:nvSpPr>
        <p:spPr>
          <a:xfrm>
            <a:off x="1028224" y="3429476"/>
            <a:ext cx="31958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Gloves: 3.86 avg rating</a:t>
            </a:r>
            <a:endParaRPr lang="en-US" sz="1750" dirty="0"/>
          </a:p>
        </p:txBody>
      </p:sp>
      <p:sp>
        <p:nvSpPr>
          <p:cNvPr id="9" name="Text 4"/>
          <p:cNvSpPr/>
          <p:nvPr/>
        </p:nvSpPr>
        <p:spPr>
          <a:xfrm>
            <a:off x="1028224" y="3928467"/>
            <a:ext cx="31958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Sandals: 3.84 avg rating</a:t>
            </a:r>
            <a:endParaRPr lang="en-US" sz="1750" dirty="0"/>
          </a:p>
        </p:txBody>
      </p:sp>
      <p:sp>
        <p:nvSpPr>
          <p:cNvPr id="10" name="Shape 5"/>
          <p:cNvSpPr/>
          <p:nvPr/>
        </p:nvSpPr>
        <p:spPr>
          <a:xfrm>
            <a:off x="4685348" y="1797368"/>
            <a:ext cx="3664863" cy="2728436"/>
          </a:xfrm>
          <a:prstGeom prst="roundRect">
            <a:avLst>
              <a:gd name="adj" fmla="val 7482"/>
            </a:avLst>
          </a:prstGeom>
          <a:solidFill>
            <a:srgbClr val="FFCCD1"/>
          </a:solidFill>
          <a:ln w="7620">
            <a:solidFill>
              <a:srgbClr val="E5B2B7"/>
            </a:solidFill>
            <a:prstDash val="solid"/>
          </a:ln>
          <a:effectLst>
            <a:outerShdw dist="29210" dir="2700000" algn="bl" rotWithShape="0">
              <a:srgbClr val="E5B2B7">
                <a:alpha val="100000"/>
              </a:srgbClr>
            </a:outerShdw>
          </a:effectLst>
        </p:spPr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9782" y="2031802"/>
            <a:ext cx="680442" cy="680442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106948" y="2218849"/>
            <a:ext cx="306110" cy="30611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4919782" y="29390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Most Discounted</a:t>
            </a:r>
            <a:endParaRPr lang="en-US" sz="2200" dirty="0"/>
          </a:p>
        </p:txBody>
      </p:sp>
      <p:sp>
        <p:nvSpPr>
          <p:cNvPr id="14" name="Text 7"/>
          <p:cNvSpPr/>
          <p:nvPr/>
        </p:nvSpPr>
        <p:spPr>
          <a:xfrm>
            <a:off x="4919782" y="3429476"/>
            <a:ext cx="31959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Hat: 50% discounted</a:t>
            </a:r>
            <a:endParaRPr lang="en-US" sz="1750" dirty="0"/>
          </a:p>
        </p:txBody>
      </p:sp>
      <p:sp>
        <p:nvSpPr>
          <p:cNvPr id="15" name="Text 8"/>
          <p:cNvSpPr/>
          <p:nvPr/>
        </p:nvSpPr>
        <p:spPr>
          <a:xfrm>
            <a:off x="4919782" y="3928467"/>
            <a:ext cx="31959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Sneakers: 49.66% discounted</a:t>
            </a:r>
            <a:endParaRPr lang="en-US" sz="1750" dirty="0"/>
          </a:p>
        </p:txBody>
      </p:sp>
      <p:sp>
        <p:nvSpPr>
          <p:cNvPr id="16" name="Shape 9"/>
          <p:cNvSpPr/>
          <p:nvPr/>
        </p:nvSpPr>
        <p:spPr>
          <a:xfrm>
            <a:off x="793790" y="4752618"/>
            <a:ext cx="7556421" cy="2728436"/>
          </a:xfrm>
          <a:prstGeom prst="roundRect">
            <a:avLst>
              <a:gd name="adj" fmla="val 7482"/>
            </a:avLst>
          </a:prstGeom>
          <a:solidFill>
            <a:srgbClr val="FFCCD1"/>
          </a:solidFill>
          <a:ln w="7620">
            <a:solidFill>
              <a:srgbClr val="E5B2B7"/>
            </a:solidFill>
            <a:prstDash val="solid"/>
          </a:ln>
          <a:effectLst>
            <a:outerShdw dist="29210" dir="2700000" algn="bl" rotWithShape="0">
              <a:srgbClr val="E5B2B7">
                <a:alpha val="100000"/>
              </a:srgbClr>
            </a:outerShdw>
          </a:effectLst>
        </p:spPr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8224" y="4987052"/>
            <a:ext cx="680442" cy="680442"/>
          </a:xfrm>
          <a:prstGeom prst="rect">
            <a:avLst/>
          </a:prstGeom>
        </p:spPr>
      </p:pic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215390" y="5174099"/>
            <a:ext cx="306110" cy="30611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1028224" y="58943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Shipping Preference</a:t>
            </a:r>
            <a:endParaRPr lang="en-US" sz="2200" dirty="0"/>
          </a:p>
        </p:txBody>
      </p:sp>
      <p:sp>
        <p:nvSpPr>
          <p:cNvPr id="20" name="Text 11"/>
          <p:cNvSpPr/>
          <p:nvPr/>
        </p:nvSpPr>
        <p:spPr>
          <a:xfrm>
            <a:off x="1028224" y="6384727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Standard: $58.46 avg</a:t>
            </a:r>
            <a:endParaRPr lang="en-US" sz="1750" dirty="0"/>
          </a:p>
        </p:txBody>
      </p:sp>
      <p:sp>
        <p:nvSpPr>
          <p:cNvPr id="21" name="Text 12"/>
          <p:cNvSpPr/>
          <p:nvPr/>
        </p:nvSpPr>
        <p:spPr>
          <a:xfrm>
            <a:off x="1028224" y="6883718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Express: $60.48 avg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493" y="710208"/>
            <a:ext cx="5927765" cy="629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dirty="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Customer Segmentation</a:t>
            </a:r>
            <a:endParaRPr lang="en-US" sz="3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9055" y="1696403"/>
            <a:ext cx="2181463" cy="112799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68222" y="2222421"/>
            <a:ext cx="283012" cy="35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50"/>
              </a:lnSpc>
              <a:buNone/>
            </a:pPr>
            <a:r>
              <a:rPr lang="en-US" sz="22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301734" y="1897618"/>
            <a:ext cx="1452443" cy="314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Loyal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5301734" y="2319218"/>
            <a:ext cx="1452443" cy="303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3,116 customers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5150763" y="2839998"/>
            <a:ext cx="8724900" cy="11430"/>
          </a:xfrm>
          <a:prstGeom prst="roundRect">
            <a:avLst>
              <a:gd name="adj" fmla="val 1584984"/>
            </a:avLst>
          </a:prstGeom>
          <a:solidFill>
            <a:srgbClr val="E5B2B7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205" y="2874645"/>
            <a:ext cx="4363045" cy="112799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868103" y="3261717"/>
            <a:ext cx="283012" cy="35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50"/>
              </a:lnSpc>
              <a:buNone/>
            </a:pPr>
            <a:r>
              <a:rPr lang="en-US" sz="22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6392466" y="3075861"/>
            <a:ext cx="1350050" cy="314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Returning</a:t>
            </a:r>
            <a:endParaRPr lang="en-US" sz="1950" dirty="0"/>
          </a:p>
        </p:txBody>
      </p:sp>
      <p:sp>
        <p:nvSpPr>
          <p:cNvPr id="11" name="Text 7"/>
          <p:cNvSpPr/>
          <p:nvPr/>
        </p:nvSpPr>
        <p:spPr>
          <a:xfrm>
            <a:off x="6392466" y="3497461"/>
            <a:ext cx="1350050" cy="303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701 customers</a:t>
            </a:r>
            <a:endParaRPr lang="en-US" sz="1550" dirty="0"/>
          </a:p>
        </p:txBody>
      </p:sp>
      <p:sp>
        <p:nvSpPr>
          <p:cNvPr id="12" name="Shape 8"/>
          <p:cNvSpPr/>
          <p:nvPr/>
        </p:nvSpPr>
        <p:spPr>
          <a:xfrm>
            <a:off x="6241494" y="4018240"/>
            <a:ext cx="7634168" cy="11430"/>
          </a:xfrm>
          <a:prstGeom prst="roundRect">
            <a:avLst>
              <a:gd name="adj" fmla="val 1584984"/>
            </a:avLst>
          </a:prstGeom>
          <a:solidFill>
            <a:srgbClr val="E5B2B7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473" y="4052888"/>
            <a:ext cx="6544508" cy="112799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868103" y="4439960"/>
            <a:ext cx="283012" cy="35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50"/>
              </a:lnSpc>
              <a:buNone/>
            </a:pPr>
            <a:r>
              <a:rPr lang="en-US" sz="22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7483197" y="4254103"/>
            <a:ext cx="1286232" cy="314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New</a:t>
            </a:r>
            <a:endParaRPr lang="en-US" sz="1950" dirty="0"/>
          </a:p>
        </p:txBody>
      </p:sp>
      <p:sp>
        <p:nvSpPr>
          <p:cNvPr id="16" name="Text 11"/>
          <p:cNvSpPr/>
          <p:nvPr/>
        </p:nvSpPr>
        <p:spPr>
          <a:xfrm>
            <a:off x="7483197" y="4675703"/>
            <a:ext cx="1286232" cy="303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83 customers</a:t>
            </a:r>
            <a:endParaRPr lang="en-US" sz="1550" dirty="0"/>
          </a:p>
        </p:txBody>
      </p:sp>
      <p:sp>
        <p:nvSpPr>
          <p:cNvPr id="17" name="Text 12"/>
          <p:cNvSpPr/>
          <p:nvPr/>
        </p:nvSpPr>
        <p:spPr>
          <a:xfrm>
            <a:off x="704493" y="5560338"/>
            <a:ext cx="2516148" cy="314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Age Group Revenue</a:t>
            </a:r>
            <a:endParaRPr lang="en-US" sz="1950" dirty="0"/>
          </a:p>
        </p:txBody>
      </p:sp>
      <p:sp>
        <p:nvSpPr>
          <p:cNvPr id="18" name="Text 13"/>
          <p:cNvSpPr/>
          <p:nvPr/>
        </p:nvSpPr>
        <p:spPr>
          <a:xfrm>
            <a:off x="704493" y="6053376"/>
            <a:ext cx="6365200" cy="1403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5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Young Adult: $62,143</a:t>
            </a:r>
            <a:endParaRPr lang="en-US" sz="1550" dirty="0"/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5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Middle-aged: $59,197</a:t>
            </a:r>
            <a:endParaRPr lang="en-US" sz="1550" dirty="0"/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5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Adult: $55,978</a:t>
            </a:r>
            <a:endParaRPr lang="en-US" sz="1550" dirty="0"/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5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Senior: $55,763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7568327" y="5560338"/>
            <a:ext cx="2516148" cy="314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Key Finding</a:t>
            </a:r>
            <a:endParaRPr lang="en-US" sz="1950" dirty="0"/>
          </a:p>
        </p:txBody>
      </p:sp>
      <p:sp>
        <p:nvSpPr>
          <p:cNvPr id="20" name="Text 15"/>
          <p:cNvSpPr/>
          <p:nvPr/>
        </p:nvSpPr>
        <p:spPr>
          <a:xfrm>
            <a:off x="7568327" y="6053376"/>
            <a:ext cx="6365200" cy="303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839 customers used discounts but spent above average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61853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Power BI Dashboard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667476"/>
            <a:ext cx="3664744" cy="1367909"/>
          </a:xfrm>
          <a:prstGeom prst="roundRect">
            <a:avLst>
              <a:gd name="adj" fmla="val 14924"/>
            </a:avLst>
          </a:prstGeom>
          <a:solidFill>
            <a:srgbClr val="FFFFFF"/>
          </a:solidFill>
          <a:ln w="30480">
            <a:solidFill>
              <a:srgbClr val="E5B2B7"/>
            </a:solidFill>
            <a:prstDash val="solid"/>
          </a:ln>
          <a:effectLst>
            <a:outerShdw dist="29210" dir="2700000" algn="bl" rotWithShape="0">
              <a:srgbClr val="E5B2B7">
                <a:alpha val="10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537484" y="292477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3.9K Customers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37484" y="3415189"/>
            <a:ext cx="31501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Total purchase records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71748" y="2667476"/>
            <a:ext cx="3664863" cy="1367909"/>
          </a:xfrm>
          <a:prstGeom prst="roundRect">
            <a:avLst>
              <a:gd name="adj" fmla="val 14924"/>
            </a:avLst>
          </a:prstGeom>
          <a:solidFill>
            <a:srgbClr val="FFFFFF"/>
          </a:solidFill>
          <a:ln w="30480">
            <a:solidFill>
              <a:srgbClr val="E5B2B7"/>
            </a:solidFill>
            <a:prstDash val="solid"/>
          </a:ln>
          <a:effectLst>
            <a:outerShdw dist="29210" dir="2700000" algn="bl" rotWithShape="0">
              <a:srgbClr val="E5B2B7">
                <a:alpha val="10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0429042" y="292477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$59.76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429042" y="3415189"/>
            <a:ext cx="31502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purchase amount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4262199"/>
            <a:ext cx="7556421" cy="1367909"/>
          </a:xfrm>
          <a:prstGeom prst="roundRect">
            <a:avLst>
              <a:gd name="adj" fmla="val 14924"/>
            </a:avLst>
          </a:prstGeom>
          <a:solidFill>
            <a:srgbClr val="FFFFFF"/>
          </a:solidFill>
          <a:ln w="30480">
            <a:solidFill>
              <a:srgbClr val="E5B2B7"/>
            </a:solidFill>
            <a:prstDash val="solid"/>
          </a:ln>
          <a:effectLst>
            <a:outerShdw dist="29210" dir="2700000" algn="bl" rotWithShape="0">
              <a:srgbClr val="E5B2B7">
                <a:alpha val="10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537484" y="451949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3.75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37484" y="5009912"/>
            <a:ext cx="704183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review rating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6280190" y="5885259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Interactive filters by subscription status, gender, category, and shipping type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19914"/>
            <a:ext cx="708386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Top Products by Category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382322"/>
            <a:ext cx="3048000" cy="304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565713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Accessories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6147554"/>
            <a:ext cx="304800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Jewelry: 171 orders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6646545"/>
            <a:ext cx="304800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Sunglasses: 161 orders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5278" y="2382322"/>
            <a:ext cx="3048119" cy="304811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25278" y="56572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Clothing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4125278" y="6147673"/>
            <a:ext cx="304811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Blouse: 171 orders</a:t>
            </a:r>
            <a:endParaRPr lang="en-US" sz="1750" dirty="0"/>
          </a:p>
        </p:txBody>
      </p:sp>
      <p:sp>
        <p:nvSpPr>
          <p:cNvPr id="10" name="Text 6"/>
          <p:cNvSpPr/>
          <p:nvPr/>
        </p:nvSpPr>
        <p:spPr>
          <a:xfrm>
            <a:off x="4125278" y="6646664"/>
            <a:ext cx="304811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Pants: 171 orders</a:t>
            </a:r>
            <a:endParaRPr lang="en-US" sz="17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6884" y="2382322"/>
            <a:ext cx="3048119" cy="304811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456884" y="56572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Footwear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7456884" y="6147673"/>
            <a:ext cx="304811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Sandals: 160 orders</a:t>
            </a:r>
            <a:endParaRPr lang="en-US" sz="1750" dirty="0"/>
          </a:p>
        </p:txBody>
      </p:sp>
      <p:sp>
        <p:nvSpPr>
          <p:cNvPr id="14" name="Text 9"/>
          <p:cNvSpPr/>
          <p:nvPr/>
        </p:nvSpPr>
        <p:spPr>
          <a:xfrm>
            <a:off x="7456884" y="6646664"/>
            <a:ext cx="304811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Shoes: 150 orders</a:t>
            </a:r>
            <a:endParaRPr lang="en-US" sz="17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88491" y="2382322"/>
            <a:ext cx="3048119" cy="3048119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788491" y="56572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Outerwear</a:t>
            </a:r>
            <a:endParaRPr lang="en-US" sz="2200" dirty="0"/>
          </a:p>
        </p:txBody>
      </p:sp>
      <p:sp>
        <p:nvSpPr>
          <p:cNvPr id="17" name="Text 11"/>
          <p:cNvSpPr/>
          <p:nvPr/>
        </p:nvSpPr>
        <p:spPr>
          <a:xfrm>
            <a:off x="10788491" y="6147673"/>
            <a:ext cx="304811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Jacket: 163 orders</a:t>
            </a:r>
            <a:endParaRPr lang="en-US" sz="1750" dirty="0"/>
          </a:p>
        </p:txBody>
      </p:sp>
      <p:sp>
        <p:nvSpPr>
          <p:cNvPr id="18" name="Text 12"/>
          <p:cNvSpPr/>
          <p:nvPr/>
        </p:nvSpPr>
        <p:spPr>
          <a:xfrm>
            <a:off x="10788491" y="6646664"/>
            <a:ext cx="304811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Coat: 161 orders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5052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Key Findings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512933"/>
            <a:ext cx="510302" cy="510302"/>
          </a:xfrm>
          <a:prstGeom prst="roundRect">
            <a:avLst>
              <a:gd name="adj" fmla="val 40005"/>
            </a:avLst>
          </a:prstGeom>
          <a:solidFill>
            <a:srgbClr val="FFCCD1"/>
          </a:solidFill>
          <a:ln w="7620">
            <a:solidFill>
              <a:srgbClr val="E5B2B7"/>
            </a:solidFill>
            <a:prstDash val="solid"/>
          </a:ln>
          <a:effectLst>
            <a:outerShdw dist="29210" dir="2700000" algn="bl" rotWithShape="0">
              <a:srgbClr val="E5B2B7">
                <a:alpha val="10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530906" y="2590800"/>
            <a:ext cx="918912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Male customers generate 2.1x more revenue than female customers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93790" y="3476863"/>
            <a:ext cx="510302" cy="510302"/>
          </a:xfrm>
          <a:prstGeom prst="roundRect">
            <a:avLst>
              <a:gd name="adj" fmla="val 40005"/>
            </a:avLst>
          </a:prstGeom>
          <a:solidFill>
            <a:srgbClr val="FFCCD1"/>
          </a:solidFill>
          <a:ln w="7620">
            <a:solidFill>
              <a:srgbClr val="E5B2B7"/>
            </a:solidFill>
            <a:prstDash val="solid"/>
          </a:ln>
          <a:effectLst>
            <a:outerShdw dist="29210" dir="2700000" algn="bl" rotWithShape="0">
              <a:srgbClr val="E5B2B7">
                <a:alpha val="1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530906" y="3554730"/>
            <a:ext cx="813554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80% of customers are classified as loyal or returning buyers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93790" y="4440793"/>
            <a:ext cx="510302" cy="510302"/>
          </a:xfrm>
          <a:prstGeom prst="roundRect">
            <a:avLst>
              <a:gd name="adj" fmla="val 40005"/>
            </a:avLst>
          </a:prstGeom>
          <a:solidFill>
            <a:srgbClr val="FFCCD1"/>
          </a:solidFill>
          <a:ln w="7620">
            <a:solidFill>
              <a:srgbClr val="E5B2B7"/>
            </a:solidFill>
            <a:prstDash val="solid"/>
          </a:ln>
          <a:effectLst>
            <a:outerShdw dist="29210" dir="2700000" algn="bl" rotWithShape="0">
              <a:srgbClr val="E5B2B7">
                <a:alpha val="10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530906" y="4518660"/>
            <a:ext cx="1121354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High-value discount users: 839 customers spent above average despite discounts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93790" y="5404723"/>
            <a:ext cx="510302" cy="510302"/>
          </a:xfrm>
          <a:prstGeom prst="roundRect">
            <a:avLst>
              <a:gd name="adj" fmla="val 40005"/>
            </a:avLst>
          </a:prstGeom>
          <a:solidFill>
            <a:srgbClr val="FFCCD1"/>
          </a:solidFill>
          <a:ln w="7620">
            <a:solidFill>
              <a:srgbClr val="E5B2B7"/>
            </a:solidFill>
            <a:prstDash val="solid"/>
          </a:ln>
          <a:effectLst>
            <a:outerShdw dist="29210" dir="2700000" algn="bl" rotWithShape="0">
              <a:srgbClr val="E5B2B7">
                <a:alpha val="10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530906" y="5482590"/>
            <a:ext cx="690776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Young adults drive highest revenue at $62,143 total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93790" y="6368653"/>
            <a:ext cx="510302" cy="510302"/>
          </a:xfrm>
          <a:prstGeom prst="roundRect">
            <a:avLst>
              <a:gd name="adj" fmla="val 40005"/>
            </a:avLst>
          </a:prstGeom>
          <a:solidFill>
            <a:srgbClr val="FFCCD1"/>
          </a:solidFill>
          <a:ln w="7620">
            <a:solidFill>
              <a:srgbClr val="E5B2B7"/>
            </a:solidFill>
            <a:prstDash val="solid"/>
          </a:ln>
          <a:effectLst>
            <a:outerShdw dist="29210" dir="2700000" algn="bl" rotWithShape="0">
              <a:srgbClr val="E5B2B7">
                <a:alpha val="10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530906" y="6446520"/>
            <a:ext cx="951618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Express shipping customers spend 3.5% more than standard shipping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59473" y="957739"/>
            <a:ext cx="7576423" cy="690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Strategic Recommendations</a:t>
            </a:r>
            <a:endParaRPr lang="en-US" sz="43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9473" y="1970603"/>
            <a:ext cx="1104424" cy="132528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578923" y="2191464"/>
            <a:ext cx="2761178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Boost Subscriptions</a:t>
            </a:r>
            <a:endParaRPr lang="en-US" sz="2150" dirty="0"/>
          </a:p>
        </p:txBody>
      </p:sp>
      <p:sp>
        <p:nvSpPr>
          <p:cNvPr id="6" name="Text 2"/>
          <p:cNvSpPr/>
          <p:nvPr/>
        </p:nvSpPr>
        <p:spPr>
          <a:xfrm>
            <a:off x="7578923" y="2665571"/>
            <a:ext cx="6278404" cy="348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Promote exclusive benefits</a:t>
            </a:r>
            <a:endParaRPr lang="en-US" sz="17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9473" y="3295888"/>
            <a:ext cx="1104424" cy="132528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578923" y="3516749"/>
            <a:ext cx="2761178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Loyalty Programs</a:t>
            </a:r>
            <a:endParaRPr lang="en-US" sz="2150" dirty="0"/>
          </a:p>
        </p:txBody>
      </p:sp>
      <p:sp>
        <p:nvSpPr>
          <p:cNvPr id="9" name="Text 4"/>
          <p:cNvSpPr/>
          <p:nvPr/>
        </p:nvSpPr>
        <p:spPr>
          <a:xfrm>
            <a:off x="7578923" y="3990856"/>
            <a:ext cx="6278404" cy="348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Reward repeat buyers</a:t>
            </a:r>
            <a:endParaRPr lang="en-US" sz="17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9473" y="4621173"/>
            <a:ext cx="1104424" cy="132528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578923" y="4842034"/>
            <a:ext cx="3049191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Review Discount Policy</a:t>
            </a:r>
            <a:endParaRPr lang="en-US" sz="2150" dirty="0"/>
          </a:p>
        </p:txBody>
      </p:sp>
      <p:sp>
        <p:nvSpPr>
          <p:cNvPr id="12" name="Text 6"/>
          <p:cNvSpPr/>
          <p:nvPr/>
        </p:nvSpPr>
        <p:spPr>
          <a:xfrm>
            <a:off x="7578923" y="5316141"/>
            <a:ext cx="6278404" cy="348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Balance sales with margins</a:t>
            </a:r>
            <a:endParaRPr lang="en-US" sz="17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59473" y="5946457"/>
            <a:ext cx="1104424" cy="132528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578923" y="6167318"/>
            <a:ext cx="2761178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Targeted Marketing</a:t>
            </a:r>
            <a:endParaRPr lang="en-US" sz="2150" dirty="0"/>
          </a:p>
        </p:txBody>
      </p:sp>
      <p:sp>
        <p:nvSpPr>
          <p:cNvPr id="15" name="Text 8"/>
          <p:cNvSpPr/>
          <p:nvPr/>
        </p:nvSpPr>
        <p:spPr>
          <a:xfrm>
            <a:off x="7578923" y="6641425"/>
            <a:ext cx="6278404" cy="348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high-revenue segments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387</Words>
  <Application>Microsoft Office PowerPoint</Application>
  <PresentationFormat>Custom</PresentationFormat>
  <Paragraphs>123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DM Sans</vt:lpstr>
      <vt:lpstr>DM Sans Light</vt:lpstr>
      <vt:lpstr>DM Sans Semi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lastModifiedBy>Km. Shubhangi</cp:lastModifiedBy>
  <cp:revision>1</cp:revision>
  <dcterms:created xsi:type="dcterms:W3CDTF">2026-03-20T16:49:37Z</dcterms:created>
  <dcterms:modified xsi:type="dcterms:W3CDTF">2026-03-20T17:33:03Z</dcterms:modified>
</cp:coreProperties>
</file>